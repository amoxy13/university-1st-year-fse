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2387699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Значение астрономии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3267770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Астрономия — наука о Вселенной, небесных телах, их движении, строении, происхождении и развитии.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291898" y="4157563"/>
            <a:ext cx="2174325" cy="312638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6" name="Text 3"/>
          <p:cNvSpPr/>
          <p:nvPr/>
        </p:nvSpPr>
        <p:spPr>
          <a:xfrm>
            <a:off x="5415323" y="4219277"/>
            <a:ext cx="253705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АСТРОНОМИЯ · 11 КЛАСС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734020"/>
            <a:ext cx="6179784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Что изучает астрономия?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720012" y="1304131"/>
            <a:ext cx="617978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Астрономы наблюдают космические объекты с помощью телескопов и космических аппаратов, анализируют данные и строят модели процессов во Вселенной.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20012" y="1830090"/>
            <a:ext cx="6179784" cy="793353"/>
          </a:xfrm>
          <a:prstGeom prst="roundRect">
            <a:avLst>
              <a:gd name="adj" fmla="val 27958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0544" y="1990626"/>
            <a:ext cx="58587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🌟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Звёзды и планеты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80544" y="2259707"/>
            <a:ext cx="585872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Солнце, Луна, экзопланеты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0012" y="2729706"/>
            <a:ext cx="6179784" cy="793353"/>
          </a:xfrm>
          <a:prstGeom prst="roundRect">
            <a:avLst>
              <a:gd name="adj" fmla="val 27958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0544" y="2890242"/>
            <a:ext cx="58587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☄️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Малые тела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80544" y="3159323"/>
            <a:ext cx="585872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Кометы, астероиды, метеоры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0012" y="3629323"/>
            <a:ext cx="6179784" cy="793353"/>
          </a:xfrm>
          <a:prstGeom prst="roundRect">
            <a:avLst>
              <a:gd name="adj" fmla="val 27958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0544" y="3789859"/>
            <a:ext cx="58587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🌀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Галактики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80544" y="4058940"/>
            <a:ext cx="585872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Туманности, чёрные дыры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0012" y="4528939"/>
            <a:ext cx="6179784" cy="793353"/>
          </a:xfrm>
          <a:prstGeom prst="roundRect">
            <a:avLst>
              <a:gd name="adj" fmla="val 27958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0544" y="4689475"/>
            <a:ext cx="58587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🌌</a:t>
            </a:r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Вселенная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80544" y="4958556"/>
            <a:ext cx="5858721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Происхождение и эволюция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20012" y="5441851"/>
            <a:ext cx="6179784" cy="682129"/>
          </a:xfrm>
          <a:prstGeom prst="roundRect">
            <a:avLst>
              <a:gd name="adj" fmla="val 32517"/>
            </a:avLst>
          </a:prstGeom>
          <a:solidFill>
            <a:srgbClr val="00805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45" y="5595342"/>
            <a:ext cx="184840" cy="1478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00517" y="5585023"/>
            <a:ext cx="555144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Главная особенность астрономии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она помогает человеку понять, как устроено окружающее нас космическое пространство.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Астрономия в жизни древнего человека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986433"/>
            <a:ext cx="6900789" cy="69009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77970" y="4083348"/>
            <a:ext cx="3599963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Астрономия появилась ещё в глубокой древности. Наблюдения за небом помогали людям решать самые практические задачи.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7877970" y="4388048"/>
            <a:ext cx="3599963" cy="390723"/>
          </a:xfrm>
          <a:prstGeom prst="roundRect">
            <a:avLst>
              <a:gd name="adj" fmla="val 39491"/>
            </a:avLst>
          </a:prstGeom>
          <a:solidFill>
            <a:srgbClr val="00805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758" y="4476750"/>
            <a:ext cx="128584" cy="1027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12130" y="4459982"/>
            <a:ext cx="3163015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Вывод: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первые астрономические знания возникли из практических потребностей человека.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508" y="8006259"/>
            <a:ext cx="154281" cy="1542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4173" y="8003084"/>
            <a:ext cx="32068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Календари и время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1054173" y="8176816"/>
            <a:ext cx="3206868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Определение времён года, суток и сезонов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829" y="8006259"/>
            <a:ext cx="154281" cy="1542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59494" y="8003084"/>
            <a:ext cx="32068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Земледелие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4659494" y="8176816"/>
            <a:ext cx="3206868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Планирование посевных и уборочных работ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69150" y="8006259"/>
            <a:ext cx="154281" cy="15428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64814" y="8003084"/>
            <a:ext cx="32068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Навигация</a:t>
            </a:r>
            <a:endParaRPr lang="en-US" sz="850" dirty="0"/>
          </a:p>
        </p:txBody>
      </p:sp>
      <p:sp>
        <p:nvSpPr>
          <p:cNvPr id="16" name="Text 9"/>
          <p:cNvSpPr/>
          <p:nvPr/>
        </p:nvSpPr>
        <p:spPr>
          <a:xfrm>
            <a:off x="8264814" y="8176816"/>
            <a:ext cx="3206868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Ориентирование по звёздам в дальних путешествиях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Астрономия и измерение времени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20012" y="954286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Наблюдения за небесными телами стали основой всех систем отсчёта времени. Каждый астрономический цикл лёг в основу единицы измерения.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531" y="1135559"/>
            <a:ext cx="10376533" cy="50722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7444" y="2897553"/>
            <a:ext cx="2150315" cy="2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Сутки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020455" y="1736354"/>
            <a:ext cx="2150316" cy="2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Месяц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13712" y="4123263"/>
            <a:ext cx="2150316" cy="2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Год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3010117" y="5305966"/>
            <a:ext cx="2150315" cy="2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Единицы времени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20012" y="6265664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Современные календари по-прежнему связаны с астрономическими движениями, хотя для точного измерения времени сегодня используются атомные часы и спутниковые системы.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691555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Астрономия и навигация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1571625"/>
            <a:ext cx="6179784" cy="2194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52685" y="1802705"/>
            <a:ext cx="561603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🧭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Древняя навигация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052685" y="2218234"/>
            <a:ext cx="5616038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 появления современных систем мореплаватели определяли своё положение по Солнцу и звёздам.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Полярная звезда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указывала направление на север в Северном полушарии.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12" y="3971826"/>
            <a:ext cx="6179784" cy="21945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2685" y="4202906"/>
            <a:ext cx="5616038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🛰️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Современные технологии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052685" y="4618434"/>
            <a:ext cx="5616038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Сегодня для навигации используются спутниковые системы —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GPS, ГЛОНАСС, Galileo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Их работа напрямую связана с космической техникой и знаниями о движении небесных тел.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Астрономия и развитие физики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986433"/>
            <a:ext cx="5250426" cy="5250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607" y="3078758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Наука, рождённая из наблюдений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27607" y="3273028"/>
            <a:ext cx="525042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Изучая движение планет и небесных тел, учёные сформулировали фундаментальные физические законы.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Законы Кеплера описывают движение планет, а теория всемирного тяготения Ньютона объясняет, почему небесные тела движутся по определённым орбитам.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227607" y="3870821"/>
            <a:ext cx="5250426" cy="267295"/>
          </a:xfrm>
          <a:prstGeom prst="roundRect">
            <a:avLst>
              <a:gd name="adj" fmla="val 49999"/>
            </a:avLst>
          </a:prstGeom>
          <a:solidFill>
            <a:srgbClr val="0080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95" y="3959523"/>
            <a:ext cx="128584" cy="102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1767" y="3942755"/>
            <a:ext cx="542306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Исследование космоса — двигатель фундаментальной науки.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583902"/>
            <a:ext cx="6179784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Астрономия и современные технологии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20012" y="1515566"/>
            <a:ext cx="6179784" cy="38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Космические исследования стимулируют развитие технологий, которые проникают в повседневную жизнь.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2006898"/>
            <a:ext cx="353607" cy="3536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0012" y="2482056"/>
            <a:ext cx="617978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Оптика и телескопы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20012" y="2736850"/>
            <a:ext cx="6179784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Совершенствование оптических систем и методов обработки изображений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12" y="3122315"/>
            <a:ext cx="353607" cy="3536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0012" y="3597473"/>
            <a:ext cx="617978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Спутниковая связь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20012" y="3852267"/>
            <a:ext cx="6179784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Глобальная связь, интернет, телевещание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12" y="4237732"/>
            <a:ext cx="353607" cy="3536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0012" y="4712891"/>
            <a:ext cx="617978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Прогноз погоды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720012" y="4967684"/>
            <a:ext cx="6179784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Мониторинг климата и природных явлений из космоса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012" y="5353149"/>
            <a:ext cx="353607" cy="3536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0012" y="5828308"/>
            <a:ext cx="617978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Вычисления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720012" y="6083102"/>
            <a:ext cx="6179784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Развитие компьютерных технологий для обработки космических данных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90748"/>
            <a:ext cx="10751670" cy="5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Происхождение Вселенной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576487"/>
            <a:ext cx="5705134" cy="3207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94241" y="2532360"/>
            <a:ext cx="4583692" cy="26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13,8 миллиарда лет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894241" y="2970609"/>
            <a:ext cx="4583692" cy="874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Современная космология предполагает, что именно столько лет назад возникла Вселенная — и с тех пор она непрерывно расширяется.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20012" y="5177234"/>
            <a:ext cx="3467311" cy="1089918"/>
          </a:xfrm>
          <a:prstGeom prst="roundRect">
            <a:avLst>
              <a:gd name="adj" fmla="val 26102"/>
            </a:avLst>
          </a:prstGeom>
          <a:solidFill>
            <a:srgbClr val="0A081B">
              <a:alpha val="75000"/>
            </a:srgbClr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5014" y="5392241"/>
            <a:ext cx="3037308" cy="26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Галактики и звёзды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35014" y="5760541"/>
            <a:ext cx="3037308" cy="2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Рождение и эволюция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62142" y="5177234"/>
            <a:ext cx="3467311" cy="1089918"/>
          </a:xfrm>
          <a:prstGeom prst="roundRect">
            <a:avLst>
              <a:gd name="adj" fmla="val 26102"/>
            </a:avLst>
          </a:prstGeom>
          <a:solidFill>
            <a:srgbClr val="0A081B">
              <a:alpha val="75000"/>
            </a:srgbClr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7144" y="5392241"/>
            <a:ext cx="3037308" cy="26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Чёрные дыры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577144" y="5760541"/>
            <a:ext cx="3037308" cy="2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Загадочные объекты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004272" y="5177234"/>
            <a:ext cx="3467311" cy="1089918"/>
          </a:xfrm>
          <a:prstGeom prst="roundRect">
            <a:avLst>
              <a:gd name="adj" fmla="val 26102"/>
            </a:avLst>
          </a:prstGeom>
          <a:solidFill>
            <a:srgbClr val="0A081B">
              <a:alpha val="75000"/>
            </a:srgbClr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9274" y="5392241"/>
            <a:ext cx="3037308" cy="263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Тёмная материя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219274" y="5760541"/>
            <a:ext cx="3037308" cy="29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Невидимая масса Вселенной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714474"/>
            <a:ext cx="6179784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Поиск жизни за пределами Земли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20012" y="1924645"/>
            <a:ext cx="6179784" cy="525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Один из самых захватывающих вопросов науки: </a:t>
            </a:r>
            <a:pPr algn="l" indent="0" marL="0">
              <a:lnSpc>
                <a:spcPct val="12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является ли жизнь на Земле уникальным явлением?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20012" y="2621359"/>
            <a:ext cx="6179784" cy="3522067"/>
          </a:xfrm>
          <a:prstGeom prst="roundRect">
            <a:avLst>
              <a:gd name="adj" fmla="val 753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9062" y="2640409"/>
            <a:ext cx="3070843" cy="2004913"/>
          </a:xfrm>
          <a:custGeom>
            <a:avLst/>
            <a:gdLst/>
            <a:ahLst/>
            <a:cxnLst/>
            <a:rect l="l" t="t" r="r" b="b"/>
            <a:pathLst>
              <a:path w="3070843" h="2004913">
                <a:moveTo>
                  <a:pt x="221004" y="0"/>
                </a:moveTo>
                <a:lnTo>
                  <a:pt x="3070843" y="0"/>
                </a:lnTo>
                <a:lnTo>
                  <a:pt x="3070843" y="2004913"/>
                </a:lnTo>
                <a:lnTo>
                  <a:pt x="0" y="2004913"/>
                </a:lnTo>
                <a:lnTo>
                  <a:pt x="0" y="221010"/>
                </a:lnTo>
                <a:arcTo hR="221010" wR="221004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7" name="Text 4"/>
          <p:cNvSpPr/>
          <p:nvPr/>
        </p:nvSpPr>
        <p:spPr>
          <a:xfrm>
            <a:off x="915865" y="2817217"/>
            <a:ext cx="271723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Экзопланеты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5865" y="3153866"/>
            <a:ext cx="2717236" cy="1314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Планеты у других звёзд — тысячи уже открыты. Особый интерес представляют объекты в «зоне обитаемости», где возможна жидкая вода.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809905" y="2640409"/>
            <a:ext cx="3070843" cy="2004913"/>
          </a:xfrm>
          <a:custGeom>
            <a:avLst/>
            <a:gdLst/>
            <a:ahLst/>
            <a:cxnLst/>
            <a:rect l="l" t="t" r="r" b="b"/>
            <a:pathLst>
              <a:path w="3070843" h="2004913">
                <a:moveTo>
                  <a:pt x="0" y="0"/>
                </a:moveTo>
                <a:lnTo>
                  <a:pt x="2849838" y="0"/>
                </a:lnTo>
                <a:arcTo hR="221010" wR="221004" stAng="16200000" swAng="5400000"/>
                <a:lnTo>
                  <a:pt x="3070843" y="2004913"/>
                </a:lnTo>
                <a:lnTo>
                  <a:pt x="0" y="2004913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2640409"/>
            <a:ext cx="19050" cy="2004913"/>
          </a:xfrm>
          <a:prstGeom prst="roundRect">
            <a:avLst>
              <a:gd name="adj" fmla="val 49999"/>
            </a:avLst>
          </a:prstGeom>
          <a:solidFill>
            <a:srgbClr val="0FC3C0"/>
          </a:solidFill>
          <a:ln/>
        </p:spPr>
      </p:sp>
      <p:sp>
        <p:nvSpPr>
          <p:cNvPr id="11" name="Text 8"/>
          <p:cNvSpPr/>
          <p:nvPr/>
        </p:nvSpPr>
        <p:spPr>
          <a:xfrm>
            <a:off x="3986708" y="2817217"/>
            <a:ext cx="271723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Методы поиска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986708" y="3153866"/>
            <a:ext cx="2717236" cy="1314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Анализ атмосферы, радиосигналы, изучение марсианского грунта — наука использует все доступные инструменты.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9062" y="4645323"/>
            <a:ext cx="6141685" cy="1479054"/>
          </a:xfrm>
          <a:custGeom>
            <a:avLst/>
            <a:gdLst/>
            <a:ahLst/>
            <a:cxnLst/>
            <a:rect l="l" t="t" r="r" b="b"/>
            <a:pathLst>
              <a:path w="6141685" h="1479054">
                <a:moveTo>
                  <a:pt x="0" y="0"/>
                </a:moveTo>
                <a:lnTo>
                  <a:pt x="6141685" y="0"/>
                </a:lnTo>
                <a:lnTo>
                  <a:pt x="6141685" y="1258044"/>
                </a:lnTo>
                <a:arcTo hR="221010" wR="221004" stAng="0" swAng="5400000"/>
                <a:lnTo>
                  <a:pt x="221004" y="1479054"/>
                </a:lnTo>
                <a:arcTo hR="221010" wR="221004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4" name="Shape 11"/>
          <p:cNvSpPr/>
          <p:nvPr/>
        </p:nvSpPr>
        <p:spPr>
          <a:xfrm>
            <a:off x="739062" y="4645323"/>
            <a:ext cx="6141685" cy="19050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15" name="Text 12"/>
          <p:cNvSpPr/>
          <p:nvPr/>
        </p:nvSpPr>
        <p:spPr>
          <a:xfrm>
            <a:off x="915865" y="4822130"/>
            <a:ext cx="578807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Пока без ответа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5865" y="5158780"/>
            <a:ext cx="5788079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Достоверных доказательств внеземной жизни не найдено. Но поиск продолжается — и это меняет наше понимание места человека во Вселенной.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7142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Почему астрономия важна?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1857177"/>
            <a:ext cx="3412444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13.8 млрд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720012" y="2793206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Лет Вселенной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20012" y="3202384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Возраст, который помогает нам понять астрономические исследования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625" y="1857177"/>
            <a:ext cx="3412444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5000+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4389625" y="2793206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Экзопланет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389625" y="3202384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Открыто астрономами — поиск жизни продолжается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59238" y="1857177"/>
            <a:ext cx="3412444" cy="678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∞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8059238" y="2793206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Вопросов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059238" y="3202384"/>
            <a:ext cx="341244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Астрономия расширяет горизонты человеческого знания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8575" y="4652764"/>
            <a:ext cx="1044310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Астрономия — это не только изучение звёзд и планет. Это наука, которая помогает человеку понять своё место во Вселенной, объяснить окружающие явления и развивать технологии будущего.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0012" y="4421386"/>
            <a:ext cx="25399" cy="1121172"/>
          </a:xfrm>
          <a:prstGeom prst="roundRect">
            <a:avLst>
              <a:gd name="adj" fmla="val 50001"/>
            </a:avLst>
          </a:prstGeom>
          <a:solidFill>
            <a:srgbClr val="16FFBB"/>
          </a:solidFill>
          <a:ln/>
        </p:spPr>
      </p:sp>
      <p:sp>
        <p:nvSpPr>
          <p:cNvPr id="14" name="Shape 12"/>
          <p:cNvSpPr/>
          <p:nvPr/>
        </p:nvSpPr>
        <p:spPr>
          <a:xfrm>
            <a:off x="720012" y="5773936"/>
            <a:ext cx="2291896" cy="312638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437" y="5835650"/>
            <a:ext cx="2654630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СПАСИБО ЗА ВНИМАНИЕ!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2026-09-11T17:59:19Z</dcterms:created>
  <dcterms:modified xsi:type="dcterms:W3CDTF">2026-09-11T17:59:19Z</dcterms:modified>
</cp:coreProperties>
</file>